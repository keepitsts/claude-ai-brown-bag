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Building the System</a:t>
            </a:r>
            <a:br/>
            <a:r>
              <a:t>That Builds the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383280"/>
            <a:ext cx="22860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4A3B8"/>
                </a:solidFill>
                <a:latin typeface="Calibri"/>
              </a:defRPr>
            </a:pPr>
            <a:r>
              <a:t>A Software Engineer's Guide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Rudy Zauel  |  Simple Technology Solutions  |  April 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The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D3E6B"/>
                </a:solidFill>
                <a:latin typeface="Calibri"/>
              </a:defRPr>
            </a:pPr>
            <a:r>
              <a:t>I had a spec for a 7-feature application with 6 API integrations.</a:t>
            </a:r>
            <a:br/>
            <a:r>
              <a:t>Can Claude Code just... build it while I walk my dog?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00400"/>
            <a:ext cx="4846320" cy="2926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What I Wanted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475569"/>
                </a:solidFill>
                <a:latin typeface="Calibri"/>
              </a:defRPr>
            </a:pPr>
            <a:r>
              <a:t>"Here's my spec. Build it."</a:t>
            </a:r>
          </a:p>
          <a:p>
            <a:pPr>
              <a:spcAft>
                <a:spcPts val="600"/>
              </a:spcAft>
              <a:defRPr sz="1600" b="0">
                <a:solidFill>
                  <a:srgbClr val="475569"/>
                </a:solidFill>
                <a:latin typeface="Calibri"/>
              </a:defRPr>
            </a:pPr>
            <a:r>
              <a:t>Go walk Milo (28lb Cavapoo).</a:t>
            </a:r>
          </a:p>
          <a:p>
            <a:pPr>
              <a:spcAft>
                <a:spcPts val="600"/>
              </a:spcAft>
              <a:defRPr sz="1600" b="0">
                <a:solidFill>
                  <a:srgbClr val="475569"/>
                </a:solidFill>
                <a:latin typeface="Calibri"/>
              </a:defRPr>
            </a:pPr>
            <a:r>
              <a:t>Come back to a working app.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200400"/>
            <a:ext cx="4846320" cy="2926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291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What Actually Happens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840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94A3B8"/>
                </a:solidFill>
                <a:latin typeface="Calibri"/>
              </a:defRPr>
            </a:pPr>
            <a:r>
              <a:t>Context window fills up by feature 4.</a:t>
            </a:r>
          </a:p>
          <a:p>
            <a:pPr>
              <a:spcAft>
                <a:spcPts val="600"/>
              </a:spcAft>
              <a:defRPr sz="1600" b="0">
                <a:solidFill>
                  <a:srgbClr val="94A3B8"/>
                </a:solidFill>
                <a:latin typeface="Calibri"/>
              </a:defRPr>
            </a:pPr>
            <a:r>
              <a:t>It forgets patterns from feature 1.</a:t>
            </a:r>
          </a:p>
          <a:p>
            <a:pPr>
              <a:spcAft>
                <a:spcPts val="600"/>
              </a:spcAft>
              <a:defRPr sz="1600" b="0">
                <a:solidFill>
                  <a:srgbClr val="94A3B8"/>
                </a:solidFill>
                <a:latin typeface="Calibri"/>
              </a:defRPr>
            </a:pPr>
            <a:r>
              <a:t>Mistakes compound without verification.</a:t>
            </a:r>
          </a:p>
          <a:p>
            <a:pPr>
              <a:spcAft>
                <a:spcPts val="600"/>
              </a:spcAft>
              <a:defRPr sz="1600" b="0">
                <a:solidFill>
                  <a:srgbClr val="94A3B8"/>
                </a:solidFill>
                <a:latin typeface="Calibri"/>
              </a:defRPr>
            </a:pPr>
            <a:r>
              <a:t>Quality degrades well before the limit.</a:t>
            </a:r>
          </a:p>
          <a:p>
            <a:pPr>
              <a:spcAft>
                <a:spcPts val="600"/>
              </a:spcAft>
              <a:defRPr sz="1600" b="0">
                <a:solidFill>
                  <a:srgbClr val="94A3B8"/>
                </a:solidFill>
                <a:latin typeface="Calibri"/>
              </a:defRPr>
            </a:pPr>
            <a:r>
              <a:t>You come back to a mess.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4A3B8"/>
                </a:solidFill>
                <a:latin typeface="Calibri"/>
              </a:defRPr>
            </a:pPr>
            <a:r>
              <a:t>The insight: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 needed to build the system</a:t>
            </a:r>
            <a:br/>
            <a:r>
              <a:t>that would build the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931920"/>
            <a:ext cx="103327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Calibri"/>
              </a:defRPr>
            </a:pPr>
            <a:r>
              <a:t>Not one giant prompt. A pipeline of markdown artifacts — each one the input to the next — that refines an idea into a deployable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The Refinement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75569"/>
                </a:solidFill>
                <a:latin typeface="Calibri"/>
              </a:defRPr>
            </a:pPr>
            <a:r>
              <a:t>Each markdown file was the input that produced the next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73736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7373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Company</a:t>
            </a:r>
            <a:br/>
            <a:r>
              <a:t>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Who is STS?</a:t>
            </a:r>
            <a:br/>
            <a:r>
              <a:t>What do they care about?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research/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9260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011680"/>
            <a:ext cx="173736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40" y="2011680"/>
            <a:ext cx="17373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560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Demo Spec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7 features, 6 APIs,</a:t>
            </a:r>
            <a:br/>
            <a:r>
              <a:t>target persona,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research/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9260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2011680"/>
            <a:ext cx="173736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2011680"/>
            <a:ext cx="17373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560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Tech Stack</a:t>
            </a:r>
            <a:br/>
            <a:r>
              <a:t>Decision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Every choice with</a:t>
            </a:r>
            <a:br/>
            <a:r>
              <a:t>rationale, not just 'use React'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research/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29260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011680"/>
            <a:ext cx="173736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011680"/>
            <a:ext cx="17373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560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Build Process</a:t>
            </a:r>
            <a:br/>
            <a:r>
              <a:t>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What agentic harness?</a:t>
            </a:r>
            <a:br/>
            <a:r>
              <a:t>Headless pipeline recommended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research/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29260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2011680"/>
            <a:ext cx="173736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2011680"/>
            <a:ext cx="17373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560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CLAUDE.md +</a:t>
            </a:r>
            <a:br/>
            <a:r>
              <a:t>11 Build Prompts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Conventions + per-feature</a:t>
            </a:r>
            <a:br/>
            <a:r>
              <a:t>spec files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build/prompts/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29260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0" y="2011680"/>
            <a:ext cx="173736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058400" y="2011680"/>
            <a:ext cx="17373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556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560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Working</a:t>
            </a:r>
            <a:br/>
            <a:r>
              <a:t>Application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4,455 lines, 58 files,</a:t>
            </a:r>
            <a:br/>
            <a:r>
              <a:t>7 features, deployed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556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trailhead/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029200"/>
            <a:ext cx="11247120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Every artifact was a markdown file.  The entire process is in the repo.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onsolas"/>
              </a:defRPr>
            </a:pPr>
            <a:r>
              <a:t>prompts/001 through prompts/017  |  research/*.md  |  build/prompts/00-10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Step 1:  Research First, Code Later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75569"/>
                </a:solidFill>
                <a:latin typeface="Calibri"/>
              </a:defRPr>
            </a:pPr>
            <a:r>
              <a:t>I used claude.ai (with web search) for research, Claude Code for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4747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Company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simple-technology-solutions-a-pre-presentation-briefing...md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Who is STS? $60M DOI contract, 3,000 officers, 855+ locations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015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Their AI products: C-CAT, LEI, A³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Culture: mission-first, 'Keep IT Simple'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966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Key people and what they care about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19" y="2011680"/>
            <a:ext cx="34747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19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Demo Spec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sts-demo-spec.md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39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7 features defined in detail (F1–F7)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39" y="34015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6 free APIs identified with auth requirements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39" y="378561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Target persona: DOI law enforcement officer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39" y="416966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What the demo IS and IS NOT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39" y="45537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Success criteria for the presentation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58" y="2011680"/>
            <a:ext cx="34747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58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8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Tech Stack Decision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trailhead-tech-stack.md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8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Every choice documented with rationale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8" y="34015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Not 'use React' but 'why Next.js App Router'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8" y="378561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State management: Zustand + TanStack Query and why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8" y="416966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What was deliberately left out (database, auth, tests)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8" y="45537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Full dependency list and project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Step 2:  "I Need an Agentic Harness"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75569"/>
                </a:solidFill>
                <a:latin typeface="Calibri"/>
              </a:defRPr>
            </a:pPr>
            <a:r>
              <a:t>Before writing any code, I researched how to make Claude Code build reliably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58368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The Research Prompt I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6217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  <a:r>
              <a:t>What I want:  give the spec to Claude Code, walk my dog, come back to a working app.</a:t>
            </a: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  <a:r>
              <a:t>What I know won't work:  Claude Code won't build 7 features in one prompt.</a:t>
            </a: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  <a:r>
              <a:t>Context fills up. It forgets patterns. Mistakes compound.</a:t>
            </a: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  <a:r>
              <a:t>What I need:  an approach that decomposes the spec into right-sized units,</a:t>
            </a: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  <a:r>
              <a:t>sequences the build, verifies each unit, and minimizes human intervention.</a:t>
            </a: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  <a:r>
              <a:t>Evaluate:  single session, headless orchestration, Agent SDK pipeline,</a:t>
            </a: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  <a:r>
              <a:t>/batch, agent teams, custom subagents, or something I haven't thought of.</a:t>
            </a: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475569"/>
                </a:solidFill>
                <a:latin typeface="Consolas"/>
              </a:defRPr>
            </a:pPr>
            <a:r>
              <a:t>Be opinionated — I want 'here's what you should do' not '5 options to consider.'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828800"/>
            <a:ext cx="3931920" cy="4389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9202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The 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4688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Sequential headless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743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claude -p with fresh context per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1546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TypeScript verification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429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tsc --noEmit + build between every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40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Auto-commit on success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Clean git history, one commit per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5262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CLAUDE.md under 80 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006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Persistent memory across fresh contexts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212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11 self-contained prompts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486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Each prompt file is a complete feature 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54864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Rejected: Agent Teams (experimental, unstable), /batch (can't handle shared</a:t>
            </a:r>
            <a:br/>
            <a:r>
              <a:t>dependencies), single long session (context degrades by feature 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Step 3:  CLAUDE.md — 50 Lines of Persistent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75569"/>
                </a:solidFill>
                <a:latin typeface="Calibri"/>
              </a:defRPr>
            </a:pPr>
            <a:r>
              <a:t>Every fresh claude -p call loads this file. It's how conventions survive across context windows.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858000" cy="4572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 TRAILHEAD — Federal Lands Daily Briefing Tool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## Tech Stack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Next.js 15 App Router, TypeScript strict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Tailwind CSS v4 (CSS-based config, NOT tailwind.config.js)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shadcn/ui, Zustand for client state, TanStack Query v5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## Critical Conventions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Server Components by default. 'use client' ONLY for interactivity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Next.js 15: params are Promises — must await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React Leaflet REQUIRES dynamic import with ssr: false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Data flow: lib/api/ → app/api/ route → TanStack Query hook → component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Named exports. Conventional commits (feat:, fix:, refactor:)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## Verification (run after every feature)</a:t>
            </a:r>
          </a:p>
          <a:p>
            <a:pPr>
              <a:spcAft>
                <a:spcPts val="2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npx tsc --noEmit &amp;&amp; npm run 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828800"/>
            <a:ext cx="3474720" cy="4572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2651760"/>
            <a:ext cx="54864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Each feature builds in a fresh context window — no memory of previous features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3200400"/>
            <a:ext cx="54864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3200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CLAUDE.md is the only thing that carries forward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3749040"/>
            <a:ext cx="54864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749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It tells Claude the patterns, not the history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4297680"/>
            <a:ext cx="54864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4297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Under 80 lines — every line competes for the model's attention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4846320"/>
            <a:ext cx="54864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4846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Claude rediscovers the codebase from the filesystem, guided by these conventions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5394960"/>
            <a:ext cx="54864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The data flow pattern (lib/api → route → hook → component) kept all 11 features consistent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Step 4:  The Build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75569"/>
                </a:solidFill>
                <a:latin typeface="Calibri"/>
              </a:defRPr>
            </a:pPr>
            <a:r>
              <a:t>A 30-line bash script that runs 11 headless Claude Code calls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943600" cy="43891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#!/bin/bash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build_step() {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local step_name="$1"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local prompt="$2"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# Fresh context window for each feature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claude -p "$prompt" \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  --allowedTools "Read,Write,Edit,Bash,Glob,Grep"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# Verification gate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npx tsc --noEmit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pnpm build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# Only commit on success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  git add -A &amp;&amp; git commit -m "feat: $step_name"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# Run all 11 features sequentially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build_step "scaffold"    "$(cat build/prompts/00-scaffold.md)"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build_step "shared-infra" "$(cat build/prompts/01-shared-infra.md)"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build_step "base-layout" "$(cat build/prompts/02-base-layout.md)"</a:t>
            </a:r>
          </a:p>
          <a:p>
            <a:pPr>
              <a:spcAft>
                <a:spcPts val="1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# ... through 10-integration.md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828800"/>
            <a:ext cx="438912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9202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11 Steps, 0 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4231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4231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Next.js 15 + Tailwind v4 + shadcn/ui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7614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7614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Shared Infra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7614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Types, API clients, stores, locations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3099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0998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Base Layout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09981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Sidebar, location selector, dashboard shell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4381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4381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Weather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43814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Open-Meteo + 15min auto-refresh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7764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776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Seismic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7764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USGS earthquakes + 5min refresh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114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Fires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NASA FIRMS + CSV parsing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45312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4531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Crime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4531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FBI Crime Data + rate aggregation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479145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79145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Astronomy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479145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Sunrise/sunset/moon phase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512978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1297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12978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React Leaflet + fire/earthquake markers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54681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4681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Briefing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54681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Claude API streaming + 5-section format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5806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onsolas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5806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Watch list, responsive, error boundaries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What a Build Prompt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75569"/>
                </a:solidFill>
                <a:latin typeface="Calibri"/>
              </a:defRPr>
            </a:pPr>
            <a:r>
              <a:t>Each of the 11 prompts is a self-contained feature spec (~200-400 words)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858000" cy="4572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 Feature: USGS Earthquake Monitoring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## What to build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API route at app/api/seismic/route.ts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Earthquake list component with magnitude-coded badges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Map overlay with circle markers sized by magnitude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TanStack Query hook in hooks/useSeismic.ts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## API Details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Endpoint: https://earthquake.usgs.gov/fdsnws/event/1/query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Parameters: format=geojson, latitude, longitude, maxradiuskm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No authentication required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## Patterns to follow     ← THIS IS THE KEY SECTION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See lib/api/weather.ts for API client wrapper pattern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See app/api/weather/route.ts for route handler pattern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See hooks/useWeather.ts for TanStack Query hook pattern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## Scope Control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Implement ONLY what is specified above</a:t>
            </a:r>
          </a:p>
          <a:p>
            <a:pPr>
              <a:spcAft>
                <a:spcPts val="1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- Do not add features beyond these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828800"/>
            <a:ext cx="3474720" cy="4572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Key Elements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"Patterns to follow"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971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Points Claude to existing code.</a:t>
            </a:r>
            <a:br/>
            <a:r>
              <a:t>It reads those files first,</a:t>
            </a:r>
            <a:br/>
            <a:r>
              <a:t>then follows the same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566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"API Details"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862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Exact endpoints, parameters,</a:t>
            </a:r>
            <a:br/>
            <a:r>
              <a:t>auth requirements. No guessing.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480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"What to build"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8006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Concrete deliverables.</a:t>
            </a:r>
            <a:br/>
            <a:r>
              <a:t>Files that should exist when done.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5394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"Scope Control"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715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Prevents Claude from adding</a:t>
            </a:r>
            <a:br/>
            <a:r>
              <a:t>auth, dark mode, i18n, etc.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Step 5:  The Debug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75569"/>
                </a:solidFill>
                <a:latin typeface="Calibri"/>
              </a:defRPr>
            </a:pPr>
            <a:r>
              <a:t>The pipeline built the app. Then reality hit — 3 out of 6 APIs had issues.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97280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57400"/>
            <a:ext cx="192024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Open app in 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2928" y="2039112"/>
            <a:ext cx="250838171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2057400"/>
            <a:ext cx="192024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057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See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7488" y="2039112"/>
            <a:ext cx="250838171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2057400"/>
            <a:ext cx="192024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057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Save console log</a:t>
            </a:r>
            <a:br/>
            <a:r>
              <a:t>to debug-logs/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039112"/>
            <a:ext cx="250838171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0" y="2057400"/>
            <a:ext cx="192024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2057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Tell Claude Code</a:t>
            </a:r>
            <a:br/>
            <a:r>
              <a:t>"read this log"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6608" y="2039112"/>
            <a:ext cx="250838171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057400"/>
            <a:ext cx="192024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057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Claude diagnoses</a:t>
            </a:r>
            <a:br/>
            <a:r>
              <a:t>and fixes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200400"/>
            <a:ext cx="54864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NASA FIRMS  —  400 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2004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URL used lat,lng,radius format — FIRMS expects bounding box west,south,east,north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2004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Calibri"/>
              </a:defRPr>
            </a:pPr>
            <a:r>
              <a:t>One prompt, fixed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069080"/>
            <a:ext cx="54864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FBI Crime Data  —  503 + 404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0690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Env var mismatch (FBI_API_KEY vs FBI_CRIME_API_KEY) AND wrong endpoint format entirely.</a:t>
            </a:r>
            <a:br/>
            <a:r>
              <a:t>Had to rewrite to /summarized/state/{state}/{offense}?from=MM-YYYY&amp;to=MM-YYYY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Calibri"/>
              </a:defRPr>
            </a:pPr>
            <a:r>
              <a:t>Two prompts, complete rewrite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937760"/>
            <a:ext cx="54864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Weather  —  Wrong units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9377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Open-Meteo defaults to Celsius/km/h. Needed temperature_unit=fahrenheit, wind_speed_unit=mph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9377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Calibri"/>
              </a:defRPr>
            </a:pPr>
            <a:r>
              <a:t>One line fix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806440"/>
            <a:ext cx="54864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80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AI Briefing  —  Empty response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58064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Anthropic API key had zero credits. Not a code bug at all.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58064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Calibri"/>
              </a:defRPr>
            </a:pPr>
            <a:r>
              <a:t>No code fix — bought credits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2103120" cy="1371600"/>
          </a:xfrm>
          <a:prstGeom prst="rect">
            <a:avLst/>
          </a:prstGeom>
          <a:solidFill>
            <a:srgbClr val="2D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Calibri"/>
              </a:defRPr>
            </a:pPr>
            <a:r>
              <a:t>4,455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Lines of TypeScript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1280160"/>
            <a:ext cx="2103120" cy="1371600"/>
          </a:xfrm>
          <a:prstGeom prst="rect">
            <a:avLst/>
          </a:prstGeom>
          <a:solidFill>
            <a:srgbClr val="2D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716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Calibri"/>
              </a:defRPr>
            </a:pPr>
            <a:r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Source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280160"/>
            <a:ext cx="2103120" cy="1371600"/>
          </a:xfrm>
          <a:prstGeom prst="rect">
            <a:avLst/>
          </a:prstGeom>
          <a:solidFill>
            <a:srgbClr val="2D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3716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Git Commits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1280160"/>
            <a:ext cx="2103120" cy="1371600"/>
          </a:xfrm>
          <a:prstGeom prst="rect">
            <a:avLst/>
          </a:prstGeom>
          <a:solidFill>
            <a:srgbClr val="2D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13716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B82F6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Build Steps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1280160"/>
            <a:ext cx="2103120" cy="1371600"/>
          </a:xfrm>
          <a:prstGeom prst="rect">
            <a:avLst/>
          </a:prstGeom>
          <a:solidFill>
            <a:srgbClr val="2D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13716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0B981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Build Failures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trailhead-pearl.vercel.app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23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TRAILHEAD — Federal Lands Daily Briefing Tool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66344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Real-time weather, seismic, wildfire, crime, and astronomy data for 25 federal land sites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1091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AI-generated operational briefings via Claude API with streaming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5838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Interactive Leaflet map with fire and earthquake overlays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705856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Briefing history, multi-location watchlist, and shareable export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6053328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Deployed to Vercel with all API keys configured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B82F6"/>
                </a:solidFill>
                <a:latin typeface="Calibri"/>
              </a:defRPr>
            </a:pPr>
            <a:r>
              <a:t>trailhead-pearl.vercel.app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Calibri"/>
              </a:defRPr>
            </a:pPr>
            <a:r>
              <a:t>What I Learned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50876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Don't prompt. Engineer.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Calibri"/>
              </a:defRPr>
            </a:pPr>
            <a:r>
              <a:t>The prompt is the last step. Before it, you need research, a spec, a tech stack decision record, a build pipeline, and a conventions file. The system that builds the system is the real work.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51460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Fresh context beats long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Calibri"/>
              </a:defRPr>
            </a:pPr>
            <a:r>
              <a:t>11 separate claude -p calls with 50 lines of CLAUDE.md outperformed one long session that degraded by feature 4. Claude rediscovers the codebase from the filesystem — you just need to tell it the patterns.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74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Verification gates are non-negotiable.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40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Calibri"/>
              </a:defRPr>
            </a:pPr>
            <a:r>
              <a:t>TypeScript compilation + build between every step caught errors before they compounded. Without this, feature 7 would inherit broken assumptions from feature 3.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52628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5262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480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Markdown in, software out.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463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Calibri"/>
              </a:defRPr>
            </a:pPr>
            <a:r>
              <a:t>The entire process was: write a markdown file, feed it to Claude, get an artifact, use that artifact to write the next markdown file. The repo is the complete record.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53212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321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486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AI gets you 0–80%. You're still the engineer.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852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Calibri"/>
              </a:defRPr>
            </a:pPr>
            <a:r>
              <a:t>API format mismatches, env var typos, wrong units — real-world integration still needs a human who reads the error and understands the domain.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App:   trailhead-pearl.vercel.app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Repo:  github.com/keepitsts/claude-ai-brown-bag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846320"/>
            <a:ext cx="8503920" cy="1097280"/>
          </a:xfrm>
          <a:prstGeom prst="rect">
            <a:avLst/>
          </a:prstGeom>
          <a:solidFill>
            <a:srgbClr val="2D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502920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Every prompt, every research artifact, every build script</a:t>
            </a:r>
            <a:br/>
            <a:r>
              <a:t>is in the repo. The entire process is transparent.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